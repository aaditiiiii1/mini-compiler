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bold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560aba79_0_2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e560aba79_0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e560aba79_0_6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560aba79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e560aba79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e560aba79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e560aba79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e560aba79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e560aba79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e560aba79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e560aba79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e560aba79_0_1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e560aba79_0_1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e560aba79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e560aba79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e560aba79_0_2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e560aba79_0_2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e560aba79_0_25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e560aba79_0_2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e560aba79_0_2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g3de560aba79_43_0)">
  <p:cSld name="Title slide (g3de560aba79_43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560aba79_54_0)">
  <p:cSld name="Generated (g3de560aba79_54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">
  <p:cSld name="Title and body (g3de560aba79_70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">
  <p:cSld name="Title and body (g3de560aba79_70_0) (g3de560aba79_89_0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 (g3de560aba79_116_0)">
  <p:cSld name="Title and body (g3de560aba79_70_0) (g3de560aba79_89_0) (g3de560aba79_116_0)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 (g3de560aba79_116_0) (g3de560aba79_124_0)">
  <p:cSld name="Title and body (g3de560aba79_70_0) (g3de560aba79_89_0) (g3de560aba79_116_0) (g3de560aba79_124_0)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 (g3de560aba79_116_0) (g3de560aba79_124_0) (g3de560aba79_135_0)">
  <p:cSld name="Title and body (g3de560aba79_70_0) (g3de560aba79_89_0) (g3de560aba79_116_0) (g3de560aba79_124_0) (g3de560aba79_135_0)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 (g3de560aba79_116_0) (g3de560aba79_124_0) (g3de560aba79_144_0)">
  <p:cSld name="Title and body (g3de560aba79_70_0) (g3de560aba79_89_0) (g3de560aba79_116_0) (g3de560aba79_124_0) (g3de560aba79_144_0)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 (g3de560aba79_116_0) (g3de560aba79_124_0) (g3de560aba79_144_0) (g3de560aba79_152_0)">
  <p:cSld name="Title and body (g3de560aba79_70_0) (g3de560aba79_89_0) (g3de560aba79_116_0) (g3de560aba79_124_0) (g3de560aba79_144_0) (g3de560aba79_152_0)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560aba79_70_0) (g3de560aba79_89_0) (g3de560aba79_116_0) (g3de560aba79_124_0) (g3de560aba79_144_0) (g3de560aba79_152_0) (g3de58426a9c_10_0)">
  <p:cSld name="Title and body (g3de560aba79_70_0) (g3de560aba79_89_0) (g3de560aba79_116_0) (g3de560aba79_124_0) (g3de560aba79_144_0) (g3de560aba79_152_0) (g3de58426a9c_10_0)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23"/>
          <p:cNvGrpSpPr/>
          <p:nvPr/>
        </p:nvGrpSpPr>
        <p:grpSpPr>
          <a:xfrm>
            <a:off x="571500" y="762000"/>
            <a:ext cx="8001000" cy="1905000"/>
            <a:chOff x="571500" y="762000"/>
            <a:chExt cx="8001000" cy="1905000"/>
          </a:xfrm>
        </p:grpSpPr>
        <p:sp>
          <p:nvSpPr>
            <p:cNvPr id="93" name="Google Shape;93;p23"/>
            <p:cNvSpPr txBox="1"/>
            <p:nvPr/>
          </p:nvSpPr>
          <p:spPr>
            <a:xfrm>
              <a:off x="571500" y="762000"/>
              <a:ext cx="8001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Mini-Compiler for Arithmetic Expressions</a:t>
              </a:r>
              <a:endParaRPr b="1" sz="40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with Error Detection and Recovery</a:t>
              </a:r>
              <a:endParaRPr b="0" sz="24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94" name="Google Shape;94;p23"/>
            <p:cNvCxnSpPr/>
            <p:nvPr/>
          </p:nvCxnSpPr>
          <p:spPr>
            <a:xfrm>
              <a:off x="571500" y="2667000"/>
              <a:ext cx="22860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5" name="Google Shape;95;p23"/>
          <p:cNvSpPr txBox="1"/>
          <p:nvPr/>
        </p:nvSpPr>
        <p:spPr>
          <a:xfrm>
            <a:off x="571500" y="2775000"/>
            <a:ext cx="8001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b="1" sz="1400">
              <a:solidFill>
                <a:srgbClr val="003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6" name="Google Shape;96;p23"/>
          <p:cNvGrpSpPr/>
          <p:nvPr/>
        </p:nvGrpSpPr>
        <p:grpSpPr>
          <a:xfrm>
            <a:off x="571500" y="3095625"/>
            <a:ext cx="3905400" cy="523800"/>
            <a:chOff x="571500" y="3095625"/>
            <a:chExt cx="3905400" cy="523800"/>
          </a:xfrm>
        </p:grpSpPr>
        <p:sp>
          <p:nvSpPr>
            <p:cNvPr id="97" name="Google Shape;97;p23"/>
            <p:cNvSpPr/>
            <p:nvPr/>
          </p:nvSpPr>
          <p:spPr>
            <a:xfrm>
              <a:off x="571500" y="3095625"/>
              <a:ext cx="39054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3"/>
            <p:cNvSpPr txBox="1"/>
            <p:nvPr/>
          </p:nvSpPr>
          <p:spPr>
            <a:xfrm>
              <a:off x="714375" y="3095625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Aditi Gopinath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(USN - 1RVU23CSE026)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9" name="Google Shape;99;p23"/>
          <p:cNvGrpSpPr/>
          <p:nvPr/>
        </p:nvGrpSpPr>
        <p:grpSpPr>
          <a:xfrm>
            <a:off x="4667250" y="3095625"/>
            <a:ext cx="3905400" cy="523800"/>
            <a:chOff x="4667250" y="3095625"/>
            <a:chExt cx="3905400" cy="523800"/>
          </a:xfrm>
        </p:grpSpPr>
        <p:sp>
          <p:nvSpPr>
            <p:cNvPr id="100" name="Google Shape;100;p23"/>
            <p:cNvSpPr/>
            <p:nvPr/>
          </p:nvSpPr>
          <p:spPr>
            <a:xfrm>
              <a:off x="4667250" y="3095625"/>
              <a:ext cx="39054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3"/>
            <p:cNvSpPr txBox="1"/>
            <p:nvPr/>
          </p:nvSpPr>
          <p:spPr>
            <a:xfrm>
              <a:off x="4810125" y="3095625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Aditya Kumar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(USN - 1RVU23CSE029)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2" name="Google Shape;102;p23"/>
          <p:cNvGrpSpPr/>
          <p:nvPr/>
        </p:nvGrpSpPr>
        <p:grpSpPr>
          <a:xfrm>
            <a:off x="571500" y="3810000"/>
            <a:ext cx="3905400" cy="523800"/>
            <a:chOff x="571500" y="3810000"/>
            <a:chExt cx="3905400" cy="523800"/>
          </a:xfrm>
        </p:grpSpPr>
        <p:sp>
          <p:nvSpPr>
            <p:cNvPr id="103" name="Google Shape;103;p23"/>
            <p:cNvSpPr/>
            <p:nvPr/>
          </p:nvSpPr>
          <p:spPr>
            <a:xfrm>
              <a:off x="571500" y="3810000"/>
              <a:ext cx="39054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3"/>
            <p:cNvSpPr txBox="1"/>
            <p:nvPr/>
          </p:nvSpPr>
          <p:spPr>
            <a:xfrm>
              <a:off x="714375" y="381000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Aniket Kumar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(USN - 1RVU23CSE055)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5" name="Google Shape;105;p23"/>
          <p:cNvGrpSpPr/>
          <p:nvPr/>
        </p:nvGrpSpPr>
        <p:grpSpPr>
          <a:xfrm>
            <a:off x="4667250" y="3810000"/>
            <a:ext cx="3905400" cy="523800"/>
            <a:chOff x="4667250" y="3810000"/>
            <a:chExt cx="3905400" cy="523800"/>
          </a:xfrm>
        </p:grpSpPr>
        <p:sp>
          <p:nvSpPr>
            <p:cNvPr id="106" name="Google Shape;106;p23"/>
            <p:cNvSpPr/>
            <p:nvPr/>
          </p:nvSpPr>
          <p:spPr>
            <a:xfrm>
              <a:off x="4667250" y="3810000"/>
              <a:ext cx="39054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3"/>
            <p:cNvSpPr txBox="1"/>
            <p:nvPr/>
          </p:nvSpPr>
          <p:spPr>
            <a:xfrm>
              <a:off x="4810125" y="381000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Ayon Aryan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(USN - 1RVU23CSE093)</a:t>
              </a:r>
              <a:endParaRPr b="1" sz="1600"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4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4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b="1" sz="3200">
              <a:solidFill>
                <a:srgbClr val="00336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4" name="Google Shape;114;p24"/>
          <p:cNvCxnSpPr/>
          <p:nvPr/>
        </p:nvCxnSpPr>
        <p:spPr>
          <a:xfrm>
            <a:off x="381000" y="1047750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" name="Google Shape;115;p24"/>
          <p:cNvGrpSpPr/>
          <p:nvPr/>
        </p:nvGrpSpPr>
        <p:grpSpPr>
          <a:xfrm>
            <a:off x="381000" y="1238250"/>
            <a:ext cx="8382000" cy="3333900"/>
            <a:chOff x="381000" y="1238250"/>
            <a:chExt cx="8382000" cy="3333900"/>
          </a:xfrm>
        </p:grpSpPr>
        <p:sp>
          <p:nvSpPr>
            <p:cNvPr id="116" name="Google Shape;116;p24"/>
            <p:cNvSpPr/>
            <p:nvPr/>
          </p:nvSpPr>
          <p:spPr>
            <a:xfrm>
              <a:off x="381000" y="1238250"/>
              <a:ext cx="8382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4"/>
            <p:cNvSpPr txBox="1"/>
            <p:nvPr/>
          </p:nvSpPr>
          <p:spPr>
            <a:xfrm>
              <a:off x="381000" y="1238250"/>
              <a:ext cx="8382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Lato"/>
                <a:buChar char="●"/>
              </a:pPr>
              <a:r>
                <a:rPr lang="en" sz="16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Arithmetic expressions are fundamental in programming and computation</a:t>
              </a:r>
              <a:endParaRPr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Lato"/>
                <a:buChar char="●"/>
              </a:pPr>
              <a:r>
                <a:rPr lang="en" sz="16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Errors in expressions (e.g., invalid syntax, missing operands) can lead to incorrect results or crashes</a:t>
              </a:r>
              <a:endParaRPr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Lato"/>
                <a:buChar char="●"/>
              </a:pPr>
              <a:r>
                <a:rPr lang="en" sz="16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Writing a full compiler is complex — but core ideas can be demonstrated on a smaller scale</a:t>
              </a:r>
              <a:endParaRPr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Lato"/>
                <a:buChar char="●"/>
              </a:pPr>
              <a:r>
                <a:rPr lang="en" sz="16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Existing tools detect errors, but understanding how they do it is important</a:t>
              </a:r>
              <a:endParaRPr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Lato"/>
                <a:buChar char="●"/>
              </a:pPr>
              <a:r>
                <a:rPr lang="en" sz="16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Our goal is to simulate this process in a simplified environment</a:t>
              </a:r>
              <a:endParaRPr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25"/>
          <p:cNvGrpSpPr/>
          <p:nvPr/>
        </p:nvGrpSpPr>
        <p:grpSpPr>
          <a:xfrm>
            <a:off x="381000" y="381000"/>
            <a:ext cx="8382000" cy="666750"/>
            <a:chOff x="381000" y="381000"/>
            <a:chExt cx="8382000" cy="666750"/>
          </a:xfrm>
        </p:grpSpPr>
        <p:sp>
          <p:nvSpPr>
            <p:cNvPr id="124" name="Google Shape;124;p25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Objectives of the Project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125" name="Google Shape;125;p25"/>
            <p:cNvCxnSpPr/>
            <p:nvPr/>
          </p:nvCxnSpPr>
          <p:spPr>
            <a:xfrm>
              <a:off x="381000" y="1047750"/>
              <a:ext cx="16191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6" name="Google Shape;126;p25"/>
          <p:cNvSpPr txBox="1"/>
          <p:nvPr/>
        </p:nvSpPr>
        <p:spPr>
          <a:xfrm>
            <a:off x="381000" y="1333500"/>
            <a:ext cx="4953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b="0" i="0" lang="en" sz="1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Design a mini-compiler for arithmetic expressions</a:t>
            </a:r>
            <a:endParaRPr b="0" i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b="0" i="0" lang="en" sz="1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Perform lexical analysis (tokenization of input)</a:t>
            </a:r>
            <a:endParaRPr b="0" i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b="0" i="0" lang="en" sz="1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Parse expressions while maintaining operator precedence</a:t>
            </a:r>
            <a:endParaRPr b="0" i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b="0" i="0" lang="en" sz="1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Detect common syntax and runtime errors</a:t>
            </a:r>
            <a:endParaRPr b="0" i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b="0" i="0" lang="en" sz="1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Apply basic error recovery techniques</a:t>
            </a:r>
            <a:endParaRPr b="0" i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b="0" i="0" lang="en" sz="1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Evaluate expressions to produce final output</a:t>
            </a:r>
            <a:endParaRPr b="0" i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7" name="Google Shape;127;p25"/>
          <p:cNvGrpSpPr/>
          <p:nvPr/>
        </p:nvGrpSpPr>
        <p:grpSpPr>
          <a:xfrm>
            <a:off x="5524500" y="1498400"/>
            <a:ext cx="3048000" cy="2814859"/>
            <a:chOff x="5524500" y="1496425"/>
            <a:chExt cx="3048000" cy="2504100"/>
          </a:xfrm>
        </p:grpSpPr>
        <p:sp>
          <p:nvSpPr>
            <p:cNvPr id="128" name="Google Shape;128;p25"/>
            <p:cNvSpPr/>
            <p:nvPr/>
          </p:nvSpPr>
          <p:spPr>
            <a:xfrm>
              <a:off x="5524500" y="2095490"/>
              <a:ext cx="3048000" cy="16269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5"/>
            <p:cNvSpPr txBox="1"/>
            <p:nvPr/>
          </p:nvSpPr>
          <p:spPr>
            <a:xfrm>
              <a:off x="5524500" y="1496425"/>
              <a:ext cx="3048000" cy="25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8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45720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8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           Example</a:t>
              </a:r>
              <a:endParaRPr b="1" sz="158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720">
                  <a:solidFill>
                    <a:srgbClr val="333333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Input: 3 + * 5</a:t>
              </a:r>
              <a:endParaRPr sz="1720">
                <a:solidFill>
                  <a:srgbClr val="333333"/>
                </a:solidFill>
                <a:highlight>
                  <a:srgbClr val="E2E8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40">
                  <a:solidFill>
                    <a:srgbClr val="DC2626"/>
                  </a:solidFill>
                  <a:latin typeface="Lato"/>
                  <a:ea typeface="Lato"/>
                  <a:cs typeface="Lato"/>
                  <a:sym typeface="Lato"/>
                </a:rPr>
                <a:t>Error detected</a:t>
              </a:r>
              <a:endParaRPr b="1" sz="1440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6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south</a:t>
              </a:r>
              <a:endParaRPr sz="186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0">
                  <a:solidFill>
                    <a:srgbClr val="16A34A"/>
                  </a:solidFill>
                  <a:latin typeface="Lato"/>
                  <a:ea typeface="Lato"/>
                  <a:cs typeface="Lato"/>
                  <a:sym typeface="Lato"/>
                </a:rPr>
                <a:t>Recovered</a:t>
              </a:r>
              <a:endParaRPr b="1" sz="1440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58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Result: 3</a:t>
              </a:r>
              <a:endParaRPr b="1" sz="158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</a:t>
            </a:r>
            <a:endParaRPr b="1" sz="3200">
              <a:solidFill>
                <a:srgbClr val="00336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36" name="Google Shape;136;p26"/>
          <p:cNvCxnSpPr/>
          <p:nvPr/>
        </p:nvCxnSpPr>
        <p:spPr>
          <a:xfrm rot="10800000">
            <a:off x="1181025" y="238200"/>
            <a:ext cx="0" cy="161910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" name="Google Shape;137;p26"/>
          <p:cNvGrpSpPr/>
          <p:nvPr/>
        </p:nvGrpSpPr>
        <p:grpSpPr>
          <a:xfrm>
            <a:off x="553140" y="1428750"/>
            <a:ext cx="7883747" cy="1428750"/>
            <a:chOff x="381000" y="1428750"/>
            <a:chExt cx="7048500" cy="1428750"/>
          </a:xfrm>
        </p:grpSpPr>
        <p:sp>
          <p:nvSpPr>
            <p:cNvPr id="138" name="Google Shape;138;p26"/>
            <p:cNvSpPr/>
            <p:nvPr/>
          </p:nvSpPr>
          <p:spPr>
            <a:xfrm>
              <a:off x="381000" y="142875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 txBox="1"/>
            <p:nvPr/>
          </p:nvSpPr>
          <p:spPr>
            <a:xfrm>
              <a:off x="381000" y="14287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Input</a:t>
              </a:r>
              <a:endParaRPr b="1" sz="14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40" name="Google Shape;14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4000" y="1704975"/>
              <a:ext cx="2859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6"/>
            <p:cNvSpPr/>
            <p:nvPr/>
          </p:nvSpPr>
          <p:spPr>
            <a:xfrm>
              <a:off x="1809750" y="142875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6"/>
            <p:cNvSpPr txBox="1"/>
            <p:nvPr/>
          </p:nvSpPr>
          <p:spPr>
            <a:xfrm>
              <a:off x="1809750" y="14287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Lexer</a:t>
              </a:r>
              <a:endParaRPr b="1" sz="14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43" name="Google Shape;14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2750" y="1704975"/>
              <a:ext cx="2859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26"/>
            <p:cNvSpPr/>
            <p:nvPr/>
          </p:nvSpPr>
          <p:spPr>
            <a:xfrm>
              <a:off x="3238500" y="142875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6"/>
            <p:cNvSpPr txBox="1"/>
            <p:nvPr/>
          </p:nvSpPr>
          <p:spPr>
            <a:xfrm>
              <a:off x="3238500" y="14287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Parser</a:t>
              </a:r>
              <a:endParaRPr b="1" sz="14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46" name="Google Shape;14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500" y="1704975"/>
              <a:ext cx="2859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26"/>
            <p:cNvSpPr/>
            <p:nvPr/>
          </p:nvSpPr>
          <p:spPr>
            <a:xfrm>
              <a:off x="4667250" y="2286000"/>
              <a:ext cx="1333500" cy="5715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1905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 txBox="1"/>
            <p:nvPr/>
          </p:nvSpPr>
          <p:spPr>
            <a:xfrm>
              <a:off x="4667250" y="22860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C2626"/>
                  </a:solidFill>
                  <a:latin typeface="Lato"/>
                  <a:ea typeface="Lato"/>
                  <a:cs typeface="Lato"/>
                  <a:sym typeface="Lato"/>
                </a:rPr>
                <a:t>Error Handler</a:t>
              </a:r>
              <a:endParaRPr b="1" sz="1200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49" name="Google Shape;149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00475" y="2000250"/>
              <a:ext cx="866700" cy="58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71725" y="2000250"/>
              <a:ext cx="22956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26"/>
            <p:cNvSpPr/>
            <p:nvPr/>
          </p:nvSpPr>
          <p:spPr>
            <a:xfrm>
              <a:off x="4667250" y="1428750"/>
              <a:ext cx="1333500" cy="5715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6"/>
            <p:cNvSpPr txBox="1"/>
            <p:nvPr/>
          </p:nvSpPr>
          <p:spPr>
            <a:xfrm>
              <a:off x="4667250" y="142875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Evaluator</a:t>
              </a:r>
              <a:endParaRPr b="1" sz="14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53" name="Google Shape;15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500" y="1704975"/>
              <a:ext cx="285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0750" y="1704975"/>
              <a:ext cx="2859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6"/>
            <p:cNvSpPr/>
            <p:nvPr/>
          </p:nvSpPr>
          <p:spPr>
            <a:xfrm>
              <a:off x="6286500" y="142875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F0FDF4"/>
            </a:solidFill>
            <a:ln cap="flat" cmpd="sng" w="1905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6286500" y="14287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6A34A"/>
                  </a:solidFill>
                  <a:latin typeface="Lato"/>
                  <a:ea typeface="Lato"/>
                  <a:cs typeface="Lato"/>
                  <a:sym typeface="Lato"/>
                </a:rPr>
                <a:t>Output</a:t>
              </a:r>
              <a:endParaRPr b="1" sz="1400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7" name="Google Shape;157;p26"/>
          <p:cNvSpPr txBox="1"/>
          <p:nvPr/>
        </p:nvSpPr>
        <p:spPr>
          <a:xfrm>
            <a:off x="381000" y="3238500"/>
            <a:ext cx="8382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Input expression is processed step-by-step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Each stage performs a well-defined transformation of the input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Errors can be detected at multiple stages (Lexing, Parsing)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Final output is either a computed result or a recovered expression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27"/>
          <p:cNvGrpSpPr/>
          <p:nvPr/>
        </p:nvGrpSpPr>
        <p:grpSpPr>
          <a:xfrm>
            <a:off x="371474" y="381000"/>
            <a:ext cx="8391526" cy="666750"/>
            <a:chOff x="371474" y="381000"/>
            <a:chExt cx="8391526" cy="666750"/>
          </a:xfrm>
        </p:grpSpPr>
        <p:sp>
          <p:nvSpPr>
            <p:cNvPr id="164" name="Google Shape;164;p27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Lexical Analysis (Tokenization)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165" name="Google Shape;165;p27"/>
            <p:cNvCxnSpPr/>
            <p:nvPr/>
          </p:nvCxnSpPr>
          <p:spPr>
            <a:xfrm rot="10800000">
              <a:off x="1181024" y="238200"/>
              <a:ext cx="0" cy="161910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6" name="Google Shape;166;p27"/>
          <p:cNvSpPr txBox="1"/>
          <p:nvPr/>
        </p:nvSpPr>
        <p:spPr>
          <a:xfrm>
            <a:off x="381000" y="1455150"/>
            <a:ext cx="53340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Converts input expression into a sequence of tokens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Tokens represent s</a:t>
            </a: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mallest </a:t>
            </a: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meaningful units of the expression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Supported tokens include: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○"/>
            </a:pPr>
            <a:r>
              <a:rPr b="1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Numbers</a:t>
            </a: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(eg. Integers ) : 3, 4</a:t>
            </a: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, 45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○"/>
            </a:pPr>
            <a:r>
              <a:rPr b="1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Operators</a:t>
            </a: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: +, -, *, /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○"/>
            </a:pPr>
            <a:r>
              <a:rPr b="1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Parentheses</a:t>
            </a: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: (, )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Invalid characters are detected and ignored wh</a:t>
            </a: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ile computation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7" name="Google Shape;167;p27"/>
          <p:cNvGrpSpPr/>
          <p:nvPr/>
        </p:nvGrpSpPr>
        <p:grpSpPr>
          <a:xfrm>
            <a:off x="5905500" y="1714500"/>
            <a:ext cx="2857500" cy="2286000"/>
            <a:chOff x="5905500" y="1714500"/>
            <a:chExt cx="2857500" cy="2286000"/>
          </a:xfrm>
        </p:grpSpPr>
        <p:sp>
          <p:nvSpPr>
            <p:cNvPr id="168" name="Google Shape;168;p27"/>
            <p:cNvSpPr/>
            <p:nvPr/>
          </p:nvSpPr>
          <p:spPr>
            <a:xfrm>
              <a:off x="5905500" y="1714500"/>
              <a:ext cx="2857500" cy="2286000"/>
            </a:xfrm>
            <a:prstGeom prst="roundRect">
              <a:avLst>
                <a:gd fmla="val 6250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7"/>
            <p:cNvSpPr txBox="1"/>
            <p:nvPr/>
          </p:nvSpPr>
          <p:spPr>
            <a:xfrm>
              <a:off x="5905500" y="1857375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Example</a:t>
              </a:r>
              <a:endParaRPr b="1" sz="14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0" name="Google Shape;170;p27"/>
            <p:cNvSpPr txBox="1"/>
            <p:nvPr/>
          </p:nvSpPr>
          <p:spPr>
            <a:xfrm>
              <a:off x="5905500" y="2238375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33333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Input: 3 + 5 * 2</a:t>
              </a:r>
              <a:endParaRPr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1" name="Google Shape;171;p27"/>
            <p:cNvSpPr txBox="1"/>
            <p:nvPr/>
          </p:nvSpPr>
          <p:spPr>
            <a:xfrm>
              <a:off x="5905500" y="2749677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6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south</a:t>
              </a:r>
              <a:endParaRPr sz="186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172" name="Google Shape;172;p27"/>
            <p:cNvGrpSpPr/>
            <p:nvPr/>
          </p:nvGrpSpPr>
          <p:grpSpPr>
            <a:xfrm>
              <a:off x="6048375" y="3190875"/>
              <a:ext cx="2428800" cy="381000"/>
              <a:chOff x="6048375" y="3190875"/>
              <a:chExt cx="2428800" cy="381000"/>
            </a:xfrm>
          </p:grpSpPr>
          <p:sp>
            <p:nvSpPr>
              <p:cNvPr id="173" name="Google Shape;173;p27"/>
              <p:cNvSpPr/>
              <p:nvPr/>
            </p:nvSpPr>
            <p:spPr>
              <a:xfrm>
                <a:off x="6048375" y="3190875"/>
                <a:ext cx="333300" cy="381000"/>
              </a:xfrm>
              <a:prstGeom prst="roundRect">
                <a:avLst>
                  <a:gd fmla="val 11428" name="adj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7"/>
              <p:cNvSpPr txBox="1"/>
              <p:nvPr/>
            </p:nvSpPr>
            <p:spPr>
              <a:xfrm>
                <a:off x="6048375" y="3190875"/>
                <a:ext cx="33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3</a:t>
                </a:r>
                <a:endParaRPr b="1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" name="Google Shape;175;p27"/>
              <p:cNvSpPr/>
              <p:nvPr/>
            </p:nvSpPr>
            <p:spPr>
              <a:xfrm>
                <a:off x="6572250" y="3190875"/>
                <a:ext cx="333300" cy="381000"/>
              </a:xfrm>
              <a:prstGeom prst="roundRect">
                <a:avLst>
                  <a:gd fmla="val 11428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7"/>
              <p:cNvSpPr txBox="1"/>
              <p:nvPr/>
            </p:nvSpPr>
            <p:spPr>
              <a:xfrm>
                <a:off x="6572250" y="3190875"/>
                <a:ext cx="33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333333"/>
                    </a:solidFill>
                    <a:latin typeface="Lato"/>
                    <a:ea typeface="Lato"/>
                    <a:cs typeface="Lato"/>
                    <a:sym typeface="Lato"/>
                  </a:rPr>
                  <a:t>+</a:t>
                </a:r>
                <a:endParaRPr b="1" sz="14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7" name="Google Shape;177;p27"/>
              <p:cNvSpPr/>
              <p:nvPr/>
            </p:nvSpPr>
            <p:spPr>
              <a:xfrm>
                <a:off x="7096125" y="3190875"/>
                <a:ext cx="333300" cy="381000"/>
              </a:xfrm>
              <a:prstGeom prst="roundRect">
                <a:avLst>
                  <a:gd fmla="val 11428" name="adj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7"/>
              <p:cNvSpPr txBox="1"/>
              <p:nvPr/>
            </p:nvSpPr>
            <p:spPr>
              <a:xfrm>
                <a:off x="7096125" y="3190875"/>
                <a:ext cx="33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5</a:t>
                </a:r>
                <a:endParaRPr b="1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9" name="Google Shape;179;p27"/>
              <p:cNvSpPr/>
              <p:nvPr/>
            </p:nvSpPr>
            <p:spPr>
              <a:xfrm>
                <a:off x="7620000" y="3190875"/>
                <a:ext cx="333300" cy="381000"/>
              </a:xfrm>
              <a:prstGeom prst="roundRect">
                <a:avLst>
                  <a:gd fmla="val 11428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27"/>
              <p:cNvSpPr txBox="1"/>
              <p:nvPr/>
            </p:nvSpPr>
            <p:spPr>
              <a:xfrm>
                <a:off x="7620000" y="3190875"/>
                <a:ext cx="33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333333"/>
                    </a:solidFill>
                    <a:latin typeface="Lato"/>
                    <a:ea typeface="Lato"/>
                    <a:cs typeface="Lato"/>
                    <a:sym typeface="Lato"/>
                  </a:rPr>
                  <a:t>*</a:t>
                </a:r>
                <a:endParaRPr b="1" sz="14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1" name="Google Shape;181;p27"/>
              <p:cNvSpPr/>
              <p:nvPr/>
            </p:nvSpPr>
            <p:spPr>
              <a:xfrm>
                <a:off x="8143875" y="3190875"/>
                <a:ext cx="333300" cy="381000"/>
              </a:xfrm>
              <a:prstGeom prst="roundRect">
                <a:avLst>
                  <a:gd fmla="val 11428" name="adj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7"/>
              <p:cNvSpPr txBox="1"/>
              <p:nvPr/>
            </p:nvSpPr>
            <p:spPr>
              <a:xfrm>
                <a:off x="8143875" y="3190875"/>
                <a:ext cx="33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endParaRPr b="1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83" name="Google Shape;183;p27"/>
            <p:cNvSpPr txBox="1"/>
            <p:nvPr/>
          </p:nvSpPr>
          <p:spPr>
            <a:xfrm>
              <a:off x="5905500" y="366712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Tokens Generated</a:t>
              </a:r>
              <a:endParaRPr b="1" sz="12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28"/>
          <p:cNvGrpSpPr/>
          <p:nvPr/>
        </p:nvGrpSpPr>
        <p:grpSpPr>
          <a:xfrm>
            <a:off x="381000" y="381000"/>
            <a:ext cx="8382000" cy="666750"/>
            <a:chOff x="381000" y="381000"/>
            <a:chExt cx="8382000" cy="666750"/>
          </a:xfrm>
        </p:grpSpPr>
        <p:sp>
          <p:nvSpPr>
            <p:cNvPr id="190" name="Google Shape;190;p28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Parsing and Evaluation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191" name="Google Shape;191;p28"/>
            <p:cNvCxnSpPr/>
            <p:nvPr/>
          </p:nvCxnSpPr>
          <p:spPr>
            <a:xfrm>
              <a:off x="381000" y="1047750"/>
              <a:ext cx="2476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2" name="Google Shape;192;p28"/>
          <p:cNvSpPr txBox="1"/>
          <p:nvPr/>
        </p:nvSpPr>
        <p:spPr>
          <a:xfrm>
            <a:off x="381000" y="1333500"/>
            <a:ext cx="5143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Parser checks the syntactic structure of the token sequence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Ensures correct order based on operator precedence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Supports: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○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Addition, Subtraction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○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Multiplication, Division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○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Parentheses for grouping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Evaluates the expression during parsing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3" name="Google Shape;193;p28"/>
          <p:cNvGrpSpPr/>
          <p:nvPr/>
        </p:nvGrpSpPr>
        <p:grpSpPr>
          <a:xfrm>
            <a:off x="5715000" y="1333500"/>
            <a:ext cx="3048000" cy="2095500"/>
            <a:chOff x="5715000" y="1333500"/>
            <a:chExt cx="3048000" cy="2095500"/>
          </a:xfrm>
        </p:grpSpPr>
        <p:sp>
          <p:nvSpPr>
            <p:cNvPr id="194" name="Google Shape;194;p28"/>
            <p:cNvSpPr/>
            <p:nvPr/>
          </p:nvSpPr>
          <p:spPr>
            <a:xfrm>
              <a:off x="5715000" y="1333500"/>
              <a:ext cx="3048000" cy="2095500"/>
            </a:xfrm>
            <a:prstGeom prst="roundRect">
              <a:avLst>
                <a:gd fmla="val 6818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8"/>
            <p:cNvSpPr txBox="1"/>
            <p:nvPr/>
          </p:nvSpPr>
          <p:spPr>
            <a:xfrm>
              <a:off x="5715000" y="1333500"/>
              <a:ext cx="3048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95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Example</a:t>
              </a:r>
              <a:endParaRPr b="1" sz="1495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1680">
                  <a:solidFill>
                    <a:srgbClr val="333333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Input: 3 + 5 * 2</a:t>
              </a:r>
              <a:endParaRPr sz="1680">
                <a:solidFill>
                  <a:srgbClr val="333333"/>
                </a:solidFill>
                <a:highlight>
                  <a:srgbClr val="E2E8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42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south</a:t>
              </a:r>
              <a:endParaRPr sz="242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680">
                  <a:solidFill>
                    <a:srgbClr val="16A34A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b="1" sz="1680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" sz="1495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3 + (5 * 2) = 13 </a:t>
              </a:r>
              <a:endParaRPr b="1" sz="1495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6" name="Google Shape;196;p28"/>
          <p:cNvGrpSpPr/>
          <p:nvPr/>
        </p:nvGrpSpPr>
        <p:grpSpPr>
          <a:xfrm>
            <a:off x="5710238" y="3614738"/>
            <a:ext cx="3057600" cy="962100"/>
            <a:chOff x="5710238" y="3614738"/>
            <a:chExt cx="3057600" cy="962100"/>
          </a:xfrm>
        </p:grpSpPr>
        <p:pic>
          <p:nvPicPr>
            <p:cNvPr id="197" name="Google Shape;19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0238" y="3614738"/>
              <a:ext cx="3057600" cy="9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8"/>
            <p:cNvSpPr txBox="1"/>
            <p:nvPr/>
          </p:nvSpPr>
          <p:spPr>
            <a:xfrm>
              <a:off x="5715050" y="361955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Precedence Hint</a:t>
              </a:r>
              <a:endParaRPr b="1" sz="13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*</a:t>
              </a:r>
              <a:r>
                <a:rPr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and </a:t>
              </a:r>
              <a:r>
                <a:rPr b="1"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/</a:t>
              </a:r>
              <a:r>
                <a:rPr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→ Higher precedence</a:t>
              </a:r>
              <a:endParaRPr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+</a:t>
              </a:r>
              <a:r>
                <a:rPr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and </a:t>
              </a:r>
              <a:r>
                <a:rPr b="1"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→ Lower precedence</a:t>
              </a:r>
              <a:endParaRPr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29"/>
          <p:cNvGrpSpPr/>
          <p:nvPr/>
        </p:nvGrpSpPr>
        <p:grpSpPr>
          <a:xfrm>
            <a:off x="142875" y="381000"/>
            <a:ext cx="8620125" cy="666750"/>
            <a:chOff x="142875" y="381000"/>
            <a:chExt cx="8620125" cy="666750"/>
          </a:xfrm>
        </p:grpSpPr>
        <p:sp>
          <p:nvSpPr>
            <p:cNvPr id="205" name="Google Shape;205;p29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Error Detection 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206" name="Google Shape;206;p29"/>
            <p:cNvCxnSpPr/>
            <p:nvPr/>
          </p:nvCxnSpPr>
          <p:spPr>
            <a:xfrm rot="10800000">
              <a:off x="857325" y="333300"/>
              <a:ext cx="0" cy="142890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7" name="Google Shape;207;p29"/>
          <p:cNvSpPr txBox="1"/>
          <p:nvPr/>
        </p:nvSpPr>
        <p:spPr>
          <a:xfrm>
            <a:off x="403950" y="1524000"/>
            <a:ext cx="5143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●"/>
            </a:pP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Identifies invalid token sequences during parsing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●"/>
            </a:pP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Ensures the expression follows correct syntactic structure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●"/>
            </a:pP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Detects common syntax and runtime errors: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○"/>
            </a:pPr>
            <a:r>
              <a:rPr b="1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Unexpected operators</a:t>
            </a: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(e.g., 3 + * 5)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○"/>
            </a:pPr>
            <a:r>
              <a:rPr b="1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Missing operands</a:t>
            </a: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(e.g., + 5, 3 +)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○"/>
            </a:pPr>
            <a:r>
              <a:rPr b="1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Mismatched parentheses</a:t>
            </a: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(e.g., </a:t>
            </a:r>
            <a:r>
              <a:rPr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3 + 5)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Lato"/>
              <a:buChar char="○"/>
            </a:pPr>
            <a:r>
              <a:rPr b="1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Division by zero</a:t>
            </a: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(runtime check)</a:t>
            </a:r>
            <a:endParaRPr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💡 Detection is performed during parsing to ensure structural correctness</a:t>
            </a:r>
            <a:endParaRPr b="1" sz="1300">
              <a:solidFill>
                <a:srgbClr val="003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8" name="Google Shape;208;p29"/>
          <p:cNvGrpSpPr/>
          <p:nvPr/>
        </p:nvGrpSpPr>
        <p:grpSpPr>
          <a:xfrm>
            <a:off x="5464825" y="1524000"/>
            <a:ext cx="3431400" cy="1854600"/>
            <a:chOff x="5464825" y="1524000"/>
            <a:chExt cx="3431400" cy="1854600"/>
          </a:xfrm>
        </p:grpSpPr>
        <p:sp>
          <p:nvSpPr>
            <p:cNvPr id="209" name="Google Shape;209;p29"/>
            <p:cNvSpPr/>
            <p:nvPr/>
          </p:nvSpPr>
          <p:spPr>
            <a:xfrm>
              <a:off x="5715000" y="1524000"/>
              <a:ext cx="3048000" cy="17145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 txBox="1"/>
            <p:nvPr/>
          </p:nvSpPr>
          <p:spPr>
            <a:xfrm>
              <a:off x="5464825" y="1524000"/>
              <a:ext cx="3431400" cy="1854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🎯 Example</a:t>
              </a:r>
              <a:endParaRPr b="1" sz="119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90">
                  <a:solidFill>
                    <a:srgbClr val="003366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Input: 3 + * 5</a:t>
              </a:r>
              <a:endParaRPr b="0" sz="1190">
                <a:solidFill>
                  <a:srgbClr val="003366"/>
                </a:solidFill>
                <a:highlight>
                  <a:srgbClr val="E2E8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south</a:t>
              </a:r>
              <a:endParaRPr b="0" sz="204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5">
                  <a:solidFill>
                    <a:srgbClr val="DC2626"/>
                  </a:solidFill>
                  <a:latin typeface="Lato"/>
                  <a:ea typeface="Lato"/>
                  <a:cs typeface="Lato"/>
                  <a:sym typeface="Lato"/>
                </a:rPr>
                <a:t>Detected Issue: Unexpected operator '*'</a:t>
              </a:r>
              <a:endParaRPr b="1" sz="1105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" name="Google Shape;216;p30"/>
          <p:cNvGrpSpPr/>
          <p:nvPr/>
        </p:nvGrpSpPr>
        <p:grpSpPr>
          <a:xfrm>
            <a:off x="381000" y="381000"/>
            <a:ext cx="8382000" cy="666750"/>
            <a:chOff x="381000" y="381000"/>
            <a:chExt cx="8382000" cy="666750"/>
          </a:xfrm>
        </p:grpSpPr>
        <p:sp>
          <p:nvSpPr>
            <p:cNvPr id="217" name="Google Shape;217;p30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Error Recovery Mechanism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218" name="Google Shape;218;p30"/>
            <p:cNvCxnSpPr/>
            <p:nvPr/>
          </p:nvCxnSpPr>
          <p:spPr>
            <a:xfrm rot="10800000">
              <a:off x="1809750" y="-190500"/>
              <a:ext cx="0" cy="247650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9" name="Google Shape;219;p30"/>
          <p:cNvSpPr txBox="1"/>
          <p:nvPr/>
        </p:nvSpPr>
        <p:spPr>
          <a:xfrm>
            <a:off x="442050" y="1218700"/>
            <a:ext cx="4891800" cy="387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Token Skipping</a:t>
            </a:r>
            <a:endParaRPr b="1" sz="1700">
              <a:solidFill>
                <a:srgbClr val="0033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→ Ignores invalid tokens to continue parsing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Default Value Insertion</a:t>
            </a:r>
            <a:endParaRPr b="1" sz="1700">
              <a:solidFill>
                <a:srgbClr val="0033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→ Missing operands are replaced with 0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Graceful Continuation</a:t>
            </a:r>
            <a:endParaRPr b="1" sz="1700">
              <a:solidFill>
                <a:srgbClr val="0033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→ Execution continues instead of terminating</a:t>
            </a:r>
            <a:endParaRPr b="0"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🧠 Recovery Workflow 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Detect invalid token or pattern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Apply appropriate recovery strategy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Adjust expression structure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Continue parsing and evaluation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875"/>
              </a:spcBef>
              <a:spcAft>
                <a:spcPts val="1875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0" name="Google Shape;220;p30"/>
          <p:cNvGrpSpPr/>
          <p:nvPr/>
        </p:nvGrpSpPr>
        <p:grpSpPr>
          <a:xfrm>
            <a:off x="5561391" y="1477642"/>
            <a:ext cx="3416950" cy="3612165"/>
            <a:chOff x="5524500" y="1428750"/>
            <a:chExt cx="3238508" cy="3486309"/>
          </a:xfrm>
        </p:grpSpPr>
        <p:sp>
          <p:nvSpPr>
            <p:cNvPr id="221" name="Google Shape;221;p30"/>
            <p:cNvSpPr/>
            <p:nvPr/>
          </p:nvSpPr>
          <p:spPr>
            <a:xfrm>
              <a:off x="5524500" y="1428750"/>
              <a:ext cx="3238500" cy="3048000"/>
            </a:xfrm>
            <a:prstGeom prst="roundRect">
              <a:avLst>
                <a:gd fmla="val 4687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0"/>
            <p:cNvSpPr txBox="1"/>
            <p:nvPr/>
          </p:nvSpPr>
          <p:spPr>
            <a:xfrm>
              <a:off x="5524508" y="1428759"/>
              <a:ext cx="3238500" cy="348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Example</a:t>
              </a:r>
              <a:endParaRPr b="1" sz="16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33333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Input: 3 + * 5</a:t>
              </a:r>
              <a:endParaRPr b="0"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south</a:t>
              </a:r>
              <a:endParaRPr b="0" sz="26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Step 1: Detect invalid operator '*'</a:t>
              </a:r>
              <a:endParaRPr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3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Step 2: Insert ‘0+’</a:t>
              </a:r>
              <a:endParaRPr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Step 3: Skip invalid token  </a:t>
              </a:r>
              <a:endParaRPr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3366"/>
                  </a:solidFill>
                  <a:highlight>
                    <a:srgbClr val="F1F5F9"/>
                  </a:highlight>
                  <a:latin typeface="Lato"/>
                  <a:ea typeface="Lato"/>
                  <a:cs typeface="Lato"/>
                  <a:sym typeface="Lato"/>
                </a:rPr>
                <a:t>Final Expression: 3 + 0 + 5</a:t>
              </a:r>
              <a:endParaRPr b="1">
                <a:solidFill>
                  <a:srgbClr val="003366"/>
                </a:solidFill>
                <a:highlight>
                  <a:srgbClr val="F1F5F9"/>
                </a:highlight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6A34A"/>
                  </a:solidFill>
                  <a:highlight>
                    <a:srgbClr val="F1F5F9"/>
                  </a:highlight>
                  <a:latin typeface="Lato"/>
                  <a:ea typeface="Lato"/>
                  <a:cs typeface="Lato"/>
                  <a:sym typeface="Lato"/>
                </a:rPr>
                <a:t>Output: 8</a:t>
              </a:r>
              <a:endParaRPr b="1" sz="1800">
                <a:solidFill>
                  <a:srgbClr val="16A34A"/>
                </a:solidFill>
                <a:highlight>
                  <a:srgbClr val="F1F5F9"/>
                </a:highlight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31"/>
          <p:cNvGrpSpPr/>
          <p:nvPr/>
        </p:nvGrpSpPr>
        <p:grpSpPr>
          <a:xfrm>
            <a:off x="285750" y="381000"/>
            <a:ext cx="8477250" cy="666750"/>
            <a:chOff x="285750" y="381000"/>
            <a:chExt cx="8477250" cy="666750"/>
          </a:xfrm>
        </p:grpSpPr>
        <p:sp>
          <p:nvSpPr>
            <p:cNvPr id="229" name="Google Shape;229;p31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System Demonstration 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230" name="Google Shape;230;p31"/>
            <p:cNvCxnSpPr/>
            <p:nvPr/>
          </p:nvCxnSpPr>
          <p:spPr>
            <a:xfrm rot="10800000">
              <a:off x="1524000" y="-190500"/>
              <a:ext cx="0" cy="247650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1" name="Google Shape;231;p31"/>
          <p:cNvSpPr txBox="1"/>
          <p:nvPr/>
        </p:nvSpPr>
        <p:spPr>
          <a:xfrm>
            <a:off x="381000" y="1333500"/>
            <a:ext cx="4381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Demonstration of the mini-compiler execution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Handles both valid and invalid expressions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Showcases error detection and recovery mechanisms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Produces meaningful output without termination</a:t>
            </a:r>
            <a:endParaRPr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32" name="Google Shape;232;p31"/>
          <p:cNvGrpSpPr/>
          <p:nvPr/>
        </p:nvGrpSpPr>
        <p:grpSpPr>
          <a:xfrm>
            <a:off x="5143500" y="1333500"/>
            <a:ext cx="3619500" cy="3048000"/>
            <a:chOff x="5143500" y="1333500"/>
            <a:chExt cx="3619500" cy="3048000"/>
          </a:xfrm>
        </p:grpSpPr>
        <p:sp>
          <p:nvSpPr>
            <p:cNvPr id="233" name="Google Shape;233;p31"/>
            <p:cNvSpPr/>
            <p:nvPr/>
          </p:nvSpPr>
          <p:spPr>
            <a:xfrm>
              <a:off x="5143500" y="1333500"/>
              <a:ext cx="3619500" cy="3048000"/>
            </a:xfrm>
            <a:prstGeom prst="roundRect">
              <a:avLst>
                <a:gd fmla="val 4687" name="adj"/>
              </a:avLst>
            </a:prstGeom>
            <a:solidFill>
              <a:srgbClr val="F8FAFC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1"/>
            <p:cNvSpPr txBox="1"/>
            <p:nvPr/>
          </p:nvSpPr>
          <p:spPr>
            <a:xfrm>
              <a:off x="5143500" y="1333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3366"/>
                  </a:solidFill>
                  <a:latin typeface="Lato"/>
                  <a:ea typeface="Lato"/>
                  <a:cs typeface="Lato"/>
                  <a:sym typeface="Lato"/>
                </a:rPr>
                <a:t>Execution Flow</a:t>
              </a:r>
              <a:endParaRPr b="1" sz="14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366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Input: 4 + + 5</a:t>
              </a:r>
              <a:endParaRPr b="1" sz="11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south</a:t>
              </a:r>
              <a:endParaRPr b="1" sz="2000">
                <a:solidFill>
                  <a:srgbClr val="0033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C2626"/>
                  </a:solidFill>
                  <a:latin typeface="Lato"/>
                  <a:ea typeface="Lato"/>
                  <a:cs typeface="Lato"/>
                  <a:sym typeface="Lato"/>
                </a:rPr>
                <a:t>[Recovery]</a:t>
              </a:r>
              <a:r>
                <a:rPr b="1" lang="en" sz="11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Unexpected operator '+'. Inserting default operand 0 and skipping.</a:t>
              </a:r>
              <a:endParaRPr b="1" sz="1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C2626"/>
                  </a:solidFill>
                  <a:latin typeface="Lato"/>
                  <a:ea typeface="Lato"/>
                  <a:cs typeface="Lato"/>
                  <a:sym typeface="Lato"/>
                </a:rPr>
                <a:t>[Recovery]</a:t>
              </a:r>
              <a:r>
                <a:rPr b="1" lang="en" sz="11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Missing operator before '5'. Defaulting to '+'</a:t>
              </a:r>
              <a:endParaRPr b="1" sz="1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6A34A"/>
                  </a:solidFill>
                  <a:latin typeface="Lato"/>
                  <a:ea typeface="Lato"/>
                  <a:cs typeface="Lato"/>
                  <a:sym typeface="Lato"/>
                </a:rPr>
                <a:t>Output: 9</a:t>
              </a:r>
              <a:endParaRPr b="1" sz="1600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32"/>
          <p:cNvGrpSpPr/>
          <p:nvPr/>
        </p:nvGrpSpPr>
        <p:grpSpPr>
          <a:xfrm>
            <a:off x="381000" y="481124"/>
            <a:ext cx="8382000" cy="708225"/>
            <a:chOff x="381000" y="463599"/>
            <a:chExt cx="8382000" cy="584151"/>
          </a:xfrm>
        </p:grpSpPr>
        <p:sp>
          <p:nvSpPr>
            <p:cNvPr id="240" name="Google Shape;240;p32"/>
            <p:cNvSpPr txBox="1"/>
            <p:nvPr/>
          </p:nvSpPr>
          <p:spPr>
            <a:xfrm>
              <a:off x="381000" y="463599"/>
              <a:ext cx="8382000" cy="4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Conclusion</a:t>
              </a:r>
              <a:endParaRPr b="1" sz="3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cxnSp>
          <p:nvCxnSpPr>
            <p:cNvPr id="241" name="Google Shape;241;p32"/>
            <p:cNvCxnSpPr/>
            <p:nvPr/>
          </p:nvCxnSpPr>
          <p:spPr>
            <a:xfrm>
              <a:off x="1047750" y="1047750"/>
              <a:ext cx="15240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2" name="Google Shape;242;p32"/>
          <p:cNvSpPr txBox="1"/>
          <p:nvPr/>
        </p:nvSpPr>
        <p:spPr>
          <a:xfrm>
            <a:off x="381000" y="1604600"/>
            <a:ext cx="73026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Designed a mini-compiler for arithmetic expressions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Implemented lexical analysis and parsing with operator precedence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Detected and handled multiple types of errors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Applied recovery strategies to continue execution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Char char="●"/>
            </a:pPr>
            <a:r>
              <a:rPr b="0" lang="en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Generated meaningful output even for invalid inputs</a:t>
            </a:r>
            <a:endParaRPr b="0" sz="16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/>
          <p:nvPr/>
        </p:nvSpPr>
        <p:spPr>
          <a:xfrm>
            <a:off x="0" y="0"/>
            <a:ext cx="9144000" cy="9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 b="1" sz="7200">
              <a:solidFill>
                <a:srgbClr val="00336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